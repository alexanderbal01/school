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3" r:id="rId4"/>
    <p:sldId id="262" r:id="rId5"/>
    <p:sldId id="264" r:id="rId6"/>
    <p:sldId id="265" r:id="rId7"/>
    <p:sldId id="266" r:id="rId8"/>
    <p:sldId id="267" r:id="rId9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80" d="100"/>
          <a:sy n="80" d="100"/>
        </p:scale>
        <p:origin x="114" y="18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CB6E07-F56B-5F5C-8704-4F3B47CCDB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9B85A2D-501D-7A40-2AC0-1F5B997163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6A574F8-E716-0EBA-C5BE-D2E991A5E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F6A4D-B158-4A96-AE89-EE60E424A10C}" type="datetimeFigureOut">
              <a:rPr lang="nl-BE" smtClean="0"/>
              <a:t>25/01/2023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6C06A5E-6B72-5C70-464E-31FC9B521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2DE3902-F210-C564-DF84-CD592717D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6F933-E809-44C5-A21F-CCB7C8329CC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85363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D828D0-8203-A38E-EFF5-308760E98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0E74887-6F8F-E42B-0A9C-819E9AA02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78BD544-A967-25DD-961C-931CBCB2F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F6A4D-B158-4A96-AE89-EE60E424A10C}" type="datetimeFigureOut">
              <a:rPr lang="nl-BE" smtClean="0"/>
              <a:t>25/01/2023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3C05564-DED8-AFE6-3ADE-95B0548DC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1F669FC-B032-5396-E018-A262013DE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6F933-E809-44C5-A21F-CCB7C8329CC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3346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6E037C-FB3C-282F-BF80-15AF172B5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464C1AC-4B75-4942-FE5C-0D31FE3A4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8507B07-831C-5875-C787-A6CD5E6F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F6A4D-B158-4A96-AE89-EE60E424A10C}" type="datetimeFigureOut">
              <a:rPr lang="nl-BE" smtClean="0"/>
              <a:t>25/01/2023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13D632A-3080-C7AF-82DB-49464D856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FC08CEC-4C85-31DE-1336-BD0B795FE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6F933-E809-44C5-A21F-CCB7C8329CC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85962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BA802A-B9A2-8423-2848-5D65CC734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F081821-ECA4-942C-001D-A7E25E57B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B15597D-70ED-15D4-B44D-7A4E001654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106201DD-6E63-AA67-9A36-0C1ED0D51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F6A4D-B158-4A96-AE89-EE60E424A10C}" type="datetimeFigureOut">
              <a:rPr lang="nl-BE" smtClean="0"/>
              <a:t>25/01/2023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64F2E2C-A26B-DB68-E981-C4D8DE109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E7BE1CB-2319-B693-E5B7-35B1EFB67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6F933-E809-44C5-A21F-CCB7C8329CC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53549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6A37CA-3525-2D2C-6F0D-FD5176A9C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009838F-8C69-8D17-AFA3-C0ECD427BE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7DFDF80-96DA-BB52-60D9-F0F63F51C3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AA79CC9-0B57-B8B1-5A1F-270BC25ADB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1B34A990-39D9-FC0D-781A-33A4A8E9CA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FACDF0C2-567D-DDF6-26BD-414F66057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F6A4D-B158-4A96-AE89-EE60E424A10C}" type="datetimeFigureOut">
              <a:rPr lang="nl-BE" smtClean="0"/>
              <a:t>25/01/2023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BF65CFC8-465B-A457-30C9-A0CDC5F24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09DD384B-8620-301F-6889-2D2D7B1F1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6F933-E809-44C5-A21F-CCB7C8329CC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26230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CB99B0-6B0D-18BA-3B71-31677943E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29535556-A0B0-F632-C492-7A0BEAE3B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F6A4D-B158-4A96-AE89-EE60E424A10C}" type="datetimeFigureOut">
              <a:rPr lang="nl-BE" smtClean="0"/>
              <a:t>25/01/2023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12EA1CE5-CE82-455B-780E-D056598A5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C33ED3B-F54C-C01A-F013-4E20772E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6F933-E809-44C5-A21F-CCB7C8329CC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15812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F67E142-BDAD-F828-20DF-45C40852C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F6A4D-B158-4A96-AE89-EE60E424A10C}" type="datetimeFigureOut">
              <a:rPr lang="nl-BE" smtClean="0"/>
              <a:t>25/01/2023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43F42EEC-055C-8A9B-14AB-7B85AAFE9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AB4363F-925F-CBBE-35DB-E707700E9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6F933-E809-44C5-A21F-CCB7C8329CC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55135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F13484-94D2-6D24-0FCC-8D0903ED6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AB444F8-B6FA-5C91-33C3-492183A9B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F16DEF5-F72D-D3A7-1855-2D7430C6F8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EF127B9-253C-0ED3-4B6F-EFDB7E9E1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F6A4D-B158-4A96-AE89-EE60E424A10C}" type="datetimeFigureOut">
              <a:rPr lang="nl-BE" smtClean="0"/>
              <a:t>25/01/2023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CDCD997-9DAB-740F-004C-6225CA3B9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0D0DA4F-457D-DAC3-201D-859AD3B7A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6F933-E809-44C5-A21F-CCB7C8329CC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62516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84BC5A-316F-26D8-6167-A2900E830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5A412B13-3B90-3D20-DC33-F754C26783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E196A9C-7B47-18F3-CF26-47CE167AD6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3523689-C3C3-E90D-D04F-AEA6956F4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F6A4D-B158-4A96-AE89-EE60E424A10C}" type="datetimeFigureOut">
              <a:rPr lang="nl-BE" smtClean="0"/>
              <a:t>25/01/2023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FFE7FE0-7C60-3F1F-A2DE-64D5D547F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C8196D4-CB02-C36F-B0D6-FE3066D65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6F933-E809-44C5-A21F-CCB7C8329CC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38583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0EE6D5-6827-F653-1E32-706E6488C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29140CB-B911-8281-EA23-A220311033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6A768C2-D672-9F52-4A3B-783357690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F6A4D-B158-4A96-AE89-EE60E424A10C}" type="datetimeFigureOut">
              <a:rPr lang="nl-BE" smtClean="0"/>
              <a:t>25/01/2023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1C9B7F5-652E-311A-B5D1-B31AE3BEF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7AED43A-FF28-9CF1-2B97-44A84FC01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6F933-E809-44C5-A21F-CCB7C8329CC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62433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2B89751B-2727-A435-1FC2-E860F7430D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5E9C3FD-BF68-D0D6-6421-5E38925A18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494060D-6973-FD53-60D6-E771A48F0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F6A4D-B158-4A96-AE89-EE60E424A10C}" type="datetimeFigureOut">
              <a:rPr lang="nl-BE" smtClean="0"/>
              <a:t>25/01/2023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D7FB9BB-F762-FBC5-5292-6BD482226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4E7B211-5117-65AA-A3B8-E1DCA1FE6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6F933-E809-44C5-A21F-CCB7C8329CC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92778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9000">
              <a:srgbClr val="0070C0"/>
            </a:gs>
            <a:gs pos="86000">
              <a:srgbClr val="00B0F0"/>
            </a:gs>
            <a:gs pos="100000">
              <a:srgbClr val="00B0F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B19EC963-885D-77CF-1056-5D72BB302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E821F09-D044-501D-721E-C56F13DF3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E64D82B-2735-35C0-D79F-194784F1CE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5F6A4D-B158-4A96-AE89-EE60E424A10C}" type="datetimeFigureOut">
              <a:rPr lang="nl-BE" smtClean="0"/>
              <a:t>25/01/2023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E346821-2A7E-4471-0C7E-59DFCABD15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1BF1EA5-9333-7FA1-6D83-25562CD7ED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6F933-E809-44C5-A21F-CCB7C8329CC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81843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813407-2E3D-71F4-4086-9434A29746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 dirty="0">
                <a:latin typeface="Agency FB" panose="020B0503020202020204" pitchFamily="34" charset="0"/>
              </a:rPr>
              <a:t>The need to </a:t>
            </a:r>
            <a:r>
              <a:rPr lang="en-US" dirty="0">
                <a:latin typeface="Agency FB" panose="020B0503020202020204" pitchFamily="34" charset="0"/>
              </a:rPr>
              <a:t>improve</a:t>
            </a:r>
            <a:r>
              <a:rPr lang="nl-BE" dirty="0">
                <a:latin typeface="Agency FB" panose="020B0503020202020204" pitchFamily="34" charset="0"/>
              </a:rPr>
              <a:t> cybersecurity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A9F920A-52CF-AE02-37CE-C1EDB6B59A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30071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ep 8">
            <a:extLst>
              <a:ext uri="{FF2B5EF4-FFF2-40B4-BE49-F238E27FC236}">
                <a16:creationId xmlns:a16="http://schemas.microsoft.com/office/drawing/2014/main" id="{872E22B7-D7CA-FC39-7CE1-99E0F05EA0BD}"/>
              </a:ext>
            </a:extLst>
          </p:cNvPr>
          <p:cNvGrpSpPr/>
          <p:nvPr/>
        </p:nvGrpSpPr>
        <p:grpSpPr>
          <a:xfrm>
            <a:off x="0" y="-1592571"/>
            <a:ext cx="5291886" cy="4708359"/>
            <a:chOff x="589547" y="1247273"/>
            <a:chExt cx="5291886" cy="4708359"/>
          </a:xfrm>
          <a:solidFill>
            <a:schemeClr val="bg1">
              <a:alpha val="15000"/>
            </a:schemeClr>
          </a:solidFill>
        </p:grpSpPr>
        <p:sp>
          <p:nvSpPr>
            <p:cNvPr id="4" name="Stroomdiagram: Gegevens 3">
              <a:extLst>
                <a:ext uri="{FF2B5EF4-FFF2-40B4-BE49-F238E27FC236}">
                  <a16:creationId xmlns:a16="http://schemas.microsoft.com/office/drawing/2014/main" id="{58D57057-E8BE-E3A9-A419-D117FAF77825}"/>
                </a:ext>
              </a:extLst>
            </p:cNvPr>
            <p:cNvSpPr/>
            <p:nvPr/>
          </p:nvSpPr>
          <p:spPr>
            <a:xfrm>
              <a:off x="589547" y="21055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5" name="Stroomdiagram: Gegevens 4">
              <a:extLst>
                <a:ext uri="{FF2B5EF4-FFF2-40B4-BE49-F238E27FC236}">
                  <a16:creationId xmlns:a16="http://schemas.microsoft.com/office/drawing/2014/main" id="{47720743-446A-0D43-05C3-6FEC0477DA31}"/>
                </a:ext>
              </a:extLst>
            </p:cNvPr>
            <p:cNvSpPr/>
            <p:nvPr/>
          </p:nvSpPr>
          <p:spPr>
            <a:xfrm>
              <a:off x="1612732" y="1247273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6" name="Stroomdiagram: Gegevens 5">
              <a:extLst>
                <a:ext uri="{FF2B5EF4-FFF2-40B4-BE49-F238E27FC236}">
                  <a16:creationId xmlns:a16="http://schemas.microsoft.com/office/drawing/2014/main" id="{E589EF92-876C-286A-A39E-AA36930C9C3B}"/>
                </a:ext>
              </a:extLst>
            </p:cNvPr>
            <p:cNvSpPr/>
            <p:nvPr/>
          </p:nvSpPr>
          <p:spPr>
            <a:xfrm>
              <a:off x="2507078" y="25627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7" name="Stroomdiagram: Gegevens 6">
              <a:extLst>
                <a:ext uri="{FF2B5EF4-FFF2-40B4-BE49-F238E27FC236}">
                  <a16:creationId xmlns:a16="http://schemas.microsoft.com/office/drawing/2014/main" id="{94F98C8A-3FF8-24A3-CBD6-A23F1EDB70F1}"/>
                </a:ext>
              </a:extLst>
            </p:cNvPr>
            <p:cNvSpPr/>
            <p:nvPr/>
          </p:nvSpPr>
          <p:spPr>
            <a:xfrm>
              <a:off x="3644063" y="21055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8" name="Stroomdiagram: Gegevens 7">
              <a:extLst>
                <a:ext uri="{FF2B5EF4-FFF2-40B4-BE49-F238E27FC236}">
                  <a16:creationId xmlns:a16="http://schemas.microsoft.com/office/drawing/2014/main" id="{A043968C-E933-F645-DDA0-833EF69AF4C1}"/>
                </a:ext>
              </a:extLst>
            </p:cNvPr>
            <p:cNvSpPr/>
            <p:nvPr/>
          </p:nvSpPr>
          <p:spPr>
            <a:xfrm>
              <a:off x="4744448" y="1546057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CB5858F8-A942-9F3C-C858-D201F229F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en-US" dirty="0">
              <a:latin typeface="Agency FB" panose="020B0503020202020204" pitchFamily="34" charset="0"/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C4C8BFD-850E-5904-19AE-5852AC3F4EE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Nearly 35 000 users</a:t>
            </a:r>
          </a:p>
          <a:p>
            <a:r>
              <a:rPr lang="en-US" dirty="0"/>
              <a:t>Access to personal information:</a:t>
            </a:r>
          </a:p>
          <a:p>
            <a:pPr lvl="1"/>
            <a:r>
              <a:rPr lang="en-US" dirty="0"/>
              <a:t>Social security numbers</a:t>
            </a:r>
          </a:p>
          <a:p>
            <a:pPr lvl="1"/>
            <a:r>
              <a:rPr lang="en-US" dirty="0"/>
              <a:t>Connected debit/credit card information</a:t>
            </a:r>
          </a:p>
          <a:p>
            <a:endParaRPr lang="en-US" dirty="0"/>
          </a:p>
        </p:txBody>
      </p:sp>
      <p:pic>
        <p:nvPicPr>
          <p:cNvPr id="18" name="Tijdelijke aanduiding voor inhoud 17" descr="Afbeelding met tekst&#10;&#10;Automatisch gegenereerde beschrijving">
            <a:extLst>
              <a:ext uri="{FF2B5EF4-FFF2-40B4-BE49-F238E27FC236}">
                <a16:creationId xmlns:a16="http://schemas.microsoft.com/office/drawing/2014/main" id="{9BE52709-D0E0-B873-CB81-D7E3B5D352E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0656" y="1825625"/>
            <a:ext cx="4044687" cy="4351338"/>
          </a:xfrm>
        </p:spPr>
      </p:pic>
    </p:spTree>
    <p:extLst>
      <p:ext uri="{BB962C8B-B14F-4D97-AF65-F5344CB8AC3E}">
        <p14:creationId xmlns:p14="http://schemas.microsoft.com/office/powerpoint/2010/main" val="2652033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ep 9">
            <a:extLst>
              <a:ext uri="{FF2B5EF4-FFF2-40B4-BE49-F238E27FC236}">
                <a16:creationId xmlns:a16="http://schemas.microsoft.com/office/drawing/2014/main" id="{5CB077F3-C52B-B07E-0EFE-33EF4EC6450B}"/>
              </a:ext>
            </a:extLst>
          </p:cNvPr>
          <p:cNvGrpSpPr/>
          <p:nvPr/>
        </p:nvGrpSpPr>
        <p:grpSpPr>
          <a:xfrm>
            <a:off x="7017663" y="-1882539"/>
            <a:ext cx="5291886" cy="4708359"/>
            <a:chOff x="589547" y="1247273"/>
            <a:chExt cx="5291886" cy="4708359"/>
          </a:xfrm>
          <a:solidFill>
            <a:schemeClr val="bg1">
              <a:alpha val="15000"/>
            </a:schemeClr>
          </a:solidFill>
        </p:grpSpPr>
        <p:sp>
          <p:nvSpPr>
            <p:cNvPr id="11" name="Stroomdiagram: Gegevens 10">
              <a:extLst>
                <a:ext uri="{FF2B5EF4-FFF2-40B4-BE49-F238E27FC236}">
                  <a16:creationId xmlns:a16="http://schemas.microsoft.com/office/drawing/2014/main" id="{ADE3F018-BAC6-8582-D033-82D567A14460}"/>
                </a:ext>
              </a:extLst>
            </p:cNvPr>
            <p:cNvSpPr/>
            <p:nvPr/>
          </p:nvSpPr>
          <p:spPr>
            <a:xfrm>
              <a:off x="589547" y="21055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2" name="Stroomdiagram: Gegevens 11">
              <a:extLst>
                <a:ext uri="{FF2B5EF4-FFF2-40B4-BE49-F238E27FC236}">
                  <a16:creationId xmlns:a16="http://schemas.microsoft.com/office/drawing/2014/main" id="{266DD9AD-E813-72DF-6EB5-E4611D892205}"/>
                </a:ext>
              </a:extLst>
            </p:cNvPr>
            <p:cNvSpPr/>
            <p:nvPr/>
          </p:nvSpPr>
          <p:spPr>
            <a:xfrm>
              <a:off x="1612732" y="1247273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3" name="Stroomdiagram: Gegevens 12">
              <a:extLst>
                <a:ext uri="{FF2B5EF4-FFF2-40B4-BE49-F238E27FC236}">
                  <a16:creationId xmlns:a16="http://schemas.microsoft.com/office/drawing/2014/main" id="{5D8C9CD5-0D40-6C1E-4E89-9BF8491A3193}"/>
                </a:ext>
              </a:extLst>
            </p:cNvPr>
            <p:cNvSpPr/>
            <p:nvPr/>
          </p:nvSpPr>
          <p:spPr>
            <a:xfrm>
              <a:off x="2507078" y="25627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4" name="Stroomdiagram: Gegevens 13">
              <a:extLst>
                <a:ext uri="{FF2B5EF4-FFF2-40B4-BE49-F238E27FC236}">
                  <a16:creationId xmlns:a16="http://schemas.microsoft.com/office/drawing/2014/main" id="{F343961F-F216-0CDD-98CD-34C6CB56BCCD}"/>
                </a:ext>
              </a:extLst>
            </p:cNvPr>
            <p:cNvSpPr/>
            <p:nvPr/>
          </p:nvSpPr>
          <p:spPr>
            <a:xfrm>
              <a:off x="3644063" y="21055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5" name="Stroomdiagram: Gegevens 14">
              <a:extLst>
                <a:ext uri="{FF2B5EF4-FFF2-40B4-BE49-F238E27FC236}">
                  <a16:creationId xmlns:a16="http://schemas.microsoft.com/office/drawing/2014/main" id="{2F479A56-1645-9092-7DBE-AA2A5ACCAADC}"/>
                </a:ext>
              </a:extLst>
            </p:cNvPr>
            <p:cNvSpPr/>
            <p:nvPr/>
          </p:nvSpPr>
          <p:spPr>
            <a:xfrm>
              <a:off x="4744448" y="1546057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</p:grpSp>
      <p:grpSp>
        <p:nvGrpSpPr>
          <p:cNvPr id="9" name="Groep 8">
            <a:extLst>
              <a:ext uri="{FF2B5EF4-FFF2-40B4-BE49-F238E27FC236}">
                <a16:creationId xmlns:a16="http://schemas.microsoft.com/office/drawing/2014/main" id="{872E22B7-D7CA-FC39-7CE1-99E0F05EA0BD}"/>
              </a:ext>
            </a:extLst>
          </p:cNvPr>
          <p:cNvGrpSpPr/>
          <p:nvPr/>
        </p:nvGrpSpPr>
        <p:grpSpPr>
          <a:xfrm>
            <a:off x="-165675" y="3429000"/>
            <a:ext cx="5291886" cy="4708359"/>
            <a:chOff x="589547" y="1247273"/>
            <a:chExt cx="5291886" cy="4708359"/>
          </a:xfrm>
          <a:blipFill>
            <a:blip r:embed="rId2"/>
            <a:stretch>
              <a:fillRect/>
            </a:stretch>
          </a:blipFill>
        </p:grpSpPr>
        <p:sp>
          <p:nvSpPr>
            <p:cNvPr id="4" name="Stroomdiagram: Gegevens 3">
              <a:extLst>
                <a:ext uri="{FF2B5EF4-FFF2-40B4-BE49-F238E27FC236}">
                  <a16:creationId xmlns:a16="http://schemas.microsoft.com/office/drawing/2014/main" id="{58D57057-E8BE-E3A9-A419-D117FAF77825}"/>
                </a:ext>
              </a:extLst>
            </p:cNvPr>
            <p:cNvSpPr/>
            <p:nvPr/>
          </p:nvSpPr>
          <p:spPr>
            <a:xfrm>
              <a:off x="589547" y="21055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5" name="Stroomdiagram: Gegevens 4">
              <a:extLst>
                <a:ext uri="{FF2B5EF4-FFF2-40B4-BE49-F238E27FC236}">
                  <a16:creationId xmlns:a16="http://schemas.microsoft.com/office/drawing/2014/main" id="{47720743-446A-0D43-05C3-6FEC0477DA31}"/>
                </a:ext>
              </a:extLst>
            </p:cNvPr>
            <p:cNvSpPr/>
            <p:nvPr/>
          </p:nvSpPr>
          <p:spPr>
            <a:xfrm>
              <a:off x="1612732" y="1247273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6" name="Stroomdiagram: Gegevens 5">
              <a:extLst>
                <a:ext uri="{FF2B5EF4-FFF2-40B4-BE49-F238E27FC236}">
                  <a16:creationId xmlns:a16="http://schemas.microsoft.com/office/drawing/2014/main" id="{E589EF92-876C-286A-A39E-AA36930C9C3B}"/>
                </a:ext>
              </a:extLst>
            </p:cNvPr>
            <p:cNvSpPr/>
            <p:nvPr/>
          </p:nvSpPr>
          <p:spPr>
            <a:xfrm>
              <a:off x="2507078" y="25627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7" name="Stroomdiagram: Gegevens 6">
              <a:extLst>
                <a:ext uri="{FF2B5EF4-FFF2-40B4-BE49-F238E27FC236}">
                  <a16:creationId xmlns:a16="http://schemas.microsoft.com/office/drawing/2014/main" id="{94F98C8A-3FF8-24A3-CBD6-A23F1EDB70F1}"/>
                </a:ext>
              </a:extLst>
            </p:cNvPr>
            <p:cNvSpPr/>
            <p:nvPr/>
          </p:nvSpPr>
          <p:spPr>
            <a:xfrm>
              <a:off x="3644063" y="21055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8" name="Stroomdiagram: Gegevens 7">
              <a:extLst>
                <a:ext uri="{FF2B5EF4-FFF2-40B4-BE49-F238E27FC236}">
                  <a16:creationId xmlns:a16="http://schemas.microsoft.com/office/drawing/2014/main" id="{A043968C-E933-F645-DDA0-833EF69AF4C1}"/>
                </a:ext>
              </a:extLst>
            </p:cNvPr>
            <p:cNvSpPr/>
            <p:nvPr/>
          </p:nvSpPr>
          <p:spPr>
            <a:xfrm>
              <a:off x="4744448" y="1546057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CB5858F8-A942-9F3C-C858-D201F229F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BE" dirty="0">
                <a:latin typeface="Agency FB" panose="020B0503020202020204" pitchFamily="34" charset="0"/>
              </a:rPr>
              <a:t>What is cybersecurity?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C4C8BFD-850E-5904-19AE-5852AC3F4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/>
            <a:r>
              <a:rPr lang="en-US" dirty="0"/>
              <a:t>Protecting data</a:t>
            </a:r>
          </a:p>
          <a:p>
            <a:pPr algn="r"/>
            <a:r>
              <a:rPr lang="en-US" dirty="0"/>
              <a:t>Unauthorized access</a:t>
            </a:r>
          </a:p>
        </p:txBody>
      </p:sp>
    </p:spTree>
    <p:extLst>
      <p:ext uri="{BB962C8B-B14F-4D97-AF65-F5344CB8AC3E}">
        <p14:creationId xmlns:p14="http://schemas.microsoft.com/office/powerpoint/2010/main" val="208955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901"/>
                            </p:stCondLst>
                            <p:childTnLst>
                              <p:par>
                                <p:cTn id="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ep 9">
            <a:extLst>
              <a:ext uri="{FF2B5EF4-FFF2-40B4-BE49-F238E27FC236}">
                <a16:creationId xmlns:a16="http://schemas.microsoft.com/office/drawing/2014/main" id="{5CB077F3-C52B-B07E-0EFE-33EF4EC6450B}"/>
              </a:ext>
            </a:extLst>
          </p:cNvPr>
          <p:cNvGrpSpPr/>
          <p:nvPr/>
        </p:nvGrpSpPr>
        <p:grpSpPr>
          <a:xfrm>
            <a:off x="6900114" y="3115788"/>
            <a:ext cx="5291886" cy="4708359"/>
            <a:chOff x="589547" y="1247273"/>
            <a:chExt cx="5291886" cy="4708359"/>
          </a:xfrm>
          <a:blipFill>
            <a:blip r:embed="rId2"/>
            <a:stretch>
              <a:fillRect/>
            </a:stretch>
          </a:blipFill>
        </p:grpSpPr>
        <p:sp>
          <p:nvSpPr>
            <p:cNvPr id="11" name="Stroomdiagram: Gegevens 10">
              <a:extLst>
                <a:ext uri="{FF2B5EF4-FFF2-40B4-BE49-F238E27FC236}">
                  <a16:creationId xmlns:a16="http://schemas.microsoft.com/office/drawing/2014/main" id="{ADE3F018-BAC6-8582-D033-82D567A14460}"/>
                </a:ext>
              </a:extLst>
            </p:cNvPr>
            <p:cNvSpPr/>
            <p:nvPr/>
          </p:nvSpPr>
          <p:spPr>
            <a:xfrm>
              <a:off x="589547" y="21055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2" name="Stroomdiagram: Gegevens 11">
              <a:extLst>
                <a:ext uri="{FF2B5EF4-FFF2-40B4-BE49-F238E27FC236}">
                  <a16:creationId xmlns:a16="http://schemas.microsoft.com/office/drawing/2014/main" id="{266DD9AD-E813-72DF-6EB5-E4611D892205}"/>
                </a:ext>
              </a:extLst>
            </p:cNvPr>
            <p:cNvSpPr/>
            <p:nvPr/>
          </p:nvSpPr>
          <p:spPr>
            <a:xfrm>
              <a:off x="1612732" y="1247273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3" name="Stroomdiagram: Gegevens 12">
              <a:extLst>
                <a:ext uri="{FF2B5EF4-FFF2-40B4-BE49-F238E27FC236}">
                  <a16:creationId xmlns:a16="http://schemas.microsoft.com/office/drawing/2014/main" id="{5D8C9CD5-0D40-6C1E-4E89-9BF8491A3193}"/>
                </a:ext>
              </a:extLst>
            </p:cNvPr>
            <p:cNvSpPr/>
            <p:nvPr/>
          </p:nvSpPr>
          <p:spPr>
            <a:xfrm>
              <a:off x="2507078" y="25627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4" name="Stroomdiagram: Gegevens 13">
              <a:extLst>
                <a:ext uri="{FF2B5EF4-FFF2-40B4-BE49-F238E27FC236}">
                  <a16:creationId xmlns:a16="http://schemas.microsoft.com/office/drawing/2014/main" id="{F343961F-F216-0CDD-98CD-34C6CB56BCCD}"/>
                </a:ext>
              </a:extLst>
            </p:cNvPr>
            <p:cNvSpPr/>
            <p:nvPr/>
          </p:nvSpPr>
          <p:spPr>
            <a:xfrm>
              <a:off x="3644063" y="21055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5" name="Stroomdiagram: Gegevens 14">
              <a:extLst>
                <a:ext uri="{FF2B5EF4-FFF2-40B4-BE49-F238E27FC236}">
                  <a16:creationId xmlns:a16="http://schemas.microsoft.com/office/drawing/2014/main" id="{2F479A56-1645-9092-7DBE-AA2A5ACCAADC}"/>
                </a:ext>
              </a:extLst>
            </p:cNvPr>
            <p:cNvSpPr/>
            <p:nvPr/>
          </p:nvSpPr>
          <p:spPr>
            <a:xfrm>
              <a:off x="4744448" y="1546057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</p:grpSp>
      <p:grpSp>
        <p:nvGrpSpPr>
          <p:cNvPr id="9" name="Groep 8">
            <a:extLst>
              <a:ext uri="{FF2B5EF4-FFF2-40B4-BE49-F238E27FC236}">
                <a16:creationId xmlns:a16="http://schemas.microsoft.com/office/drawing/2014/main" id="{872E22B7-D7CA-FC39-7CE1-99E0F05EA0BD}"/>
              </a:ext>
            </a:extLst>
          </p:cNvPr>
          <p:cNvGrpSpPr/>
          <p:nvPr/>
        </p:nvGrpSpPr>
        <p:grpSpPr>
          <a:xfrm>
            <a:off x="0" y="-1592571"/>
            <a:ext cx="5291886" cy="4708359"/>
            <a:chOff x="589547" y="1247273"/>
            <a:chExt cx="5291886" cy="4708359"/>
          </a:xfrm>
          <a:solidFill>
            <a:schemeClr val="bg1">
              <a:alpha val="15000"/>
            </a:schemeClr>
          </a:solidFill>
        </p:grpSpPr>
        <p:sp>
          <p:nvSpPr>
            <p:cNvPr id="4" name="Stroomdiagram: Gegevens 3">
              <a:extLst>
                <a:ext uri="{FF2B5EF4-FFF2-40B4-BE49-F238E27FC236}">
                  <a16:creationId xmlns:a16="http://schemas.microsoft.com/office/drawing/2014/main" id="{58D57057-E8BE-E3A9-A419-D117FAF77825}"/>
                </a:ext>
              </a:extLst>
            </p:cNvPr>
            <p:cNvSpPr/>
            <p:nvPr/>
          </p:nvSpPr>
          <p:spPr>
            <a:xfrm>
              <a:off x="589547" y="21055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5" name="Stroomdiagram: Gegevens 4">
              <a:extLst>
                <a:ext uri="{FF2B5EF4-FFF2-40B4-BE49-F238E27FC236}">
                  <a16:creationId xmlns:a16="http://schemas.microsoft.com/office/drawing/2014/main" id="{47720743-446A-0D43-05C3-6FEC0477DA31}"/>
                </a:ext>
              </a:extLst>
            </p:cNvPr>
            <p:cNvSpPr/>
            <p:nvPr/>
          </p:nvSpPr>
          <p:spPr>
            <a:xfrm>
              <a:off x="1612732" y="1247273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6" name="Stroomdiagram: Gegevens 5">
              <a:extLst>
                <a:ext uri="{FF2B5EF4-FFF2-40B4-BE49-F238E27FC236}">
                  <a16:creationId xmlns:a16="http://schemas.microsoft.com/office/drawing/2014/main" id="{E589EF92-876C-286A-A39E-AA36930C9C3B}"/>
                </a:ext>
              </a:extLst>
            </p:cNvPr>
            <p:cNvSpPr/>
            <p:nvPr/>
          </p:nvSpPr>
          <p:spPr>
            <a:xfrm>
              <a:off x="2507078" y="25627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7" name="Stroomdiagram: Gegevens 6">
              <a:extLst>
                <a:ext uri="{FF2B5EF4-FFF2-40B4-BE49-F238E27FC236}">
                  <a16:creationId xmlns:a16="http://schemas.microsoft.com/office/drawing/2014/main" id="{94F98C8A-3FF8-24A3-CBD6-A23F1EDB70F1}"/>
                </a:ext>
              </a:extLst>
            </p:cNvPr>
            <p:cNvSpPr/>
            <p:nvPr/>
          </p:nvSpPr>
          <p:spPr>
            <a:xfrm>
              <a:off x="3644063" y="21055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8" name="Stroomdiagram: Gegevens 7">
              <a:extLst>
                <a:ext uri="{FF2B5EF4-FFF2-40B4-BE49-F238E27FC236}">
                  <a16:creationId xmlns:a16="http://schemas.microsoft.com/office/drawing/2014/main" id="{A043968C-E933-F645-DDA0-833EF69AF4C1}"/>
                </a:ext>
              </a:extLst>
            </p:cNvPr>
            <p:cNvSpPr/>
            <p:nvPr/>
          </p:nvSpPr>
          <p:spPr>
            <a:xfrm>
              <a:off x="4744448" y="1546057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CB5858F8-A942-9F3C-C858-D201F229F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BE" dirty="0">
                <a:latin typeface="Agency FB" panose="020B0503020202020204" pitchFamily="34" charset="0"/>
              </a:rPr>
              <a:t>Why do we need cybersecurity?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C4C8BFD-850E-5904-19AE-5852AC3F4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Trying to prevent attacks</a:t>
            </a:r>
          </a:p>
          <a:p>
            <a:r>
              <a:rPr lang="en-US" dirty="0"/>
              <a:t>User data protection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150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401"/>
                            </p:stCondLst>
                            <p:childTnLst>
                              <p:par>
                                <p:cTn id="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ep 9">
            <a:extLst>
              <a:ext uri="{FF2B5EF4-FFF2-40B4-BE49-F238E27FC236}">
                <a16:creationId xmlns:a16="http://schemas.microsoft.com/office/drawing/2014/main" id="{5CB077F3-C52B-B07E-0EFE-33EF4EC6450B}"/>
              </a:ext>
            </a:extLst>
          </p:cNvPr>
          <p:cNvGrpSpPr/>
          <p:nvPr/>
        </p:nvGrpSpPr>
        <p:grpSpPr>
          <a:xfrm>
            <a:off x="7017663" y="-1882539"/>
            <a:ext cx="5291886" cy="4708359"/>
            <a:chOff x="589547" y="1247273"/>
            <a:chExt cx="5291886" cy="4708359"/>
          </a:xfrm>
          <a:solidFill>
            <a:schemeClr val="bg1">
              <a:alpha val="15000"/>
            </a:schemeClr>
          </a:solidFill>
        </p:grpSpPr>
        <p:sp>
          <p:nvSpPr>
            <p:cNvPr id="11" name="Stroomdiagram: Gegevens 10">
              <a:extLst>
                <a:ext uri="{FF2B5EF4-FFF2-40B4-BE49-F238E27FC236}">
                  <a16:creationId xmlns:a16="http://schemas.microsoft.com/office/drawing/2014/main" id="{ADE3F018-BAC6-8582-D033-82D567A14460}"/>
                </a:ext>
              </a:extLst>
            </p:cNvPr>
            <p:cNvSpPr/>
            <p:nvPr/>
          </p:nvSpPr>
          <p:spPr>
            <a:xfrm>
              <a:off x="589547" y="21055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2" name="Stroomdiagram: Gegevens 11">
              <a:extLst>
                <a:ext uri="{FF2B5EF4-FFF2-40B4-BE49-F238E27FC236}">
                  <a16:creationId xmlns:a16="http://schemas.microsoft.com/office/drawing/2014/main" id="{266DD9AD-E813-72DF-6EB5-E4611D892205}"/>
                </a:ext>
              </a:extLst>
            </p:cNvPr>
            <p:cNvSpPr/>
            <p:nvPr/>
          </p:nvSpPr>
          <p:spPr>
            <a:xfrm>
              <a:off x="1612732" y="1247273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3" name="Stroomdiagram: Gegevens 12">
              <a:extLst>
                <a:ext uri="{FF2B5EF4-FFF2-40B4-BE49-F238E27FC236}">
                  <a16:creationId xmlns:a16="http://schemas.microsoft.com/office/drawing/2014/main" id="{5D8C9CD5-0D40-6C1E-4E89-9BF8491A3193}"/>
                </a:ext>
              </a:extLst>
            </p:cNvPr>
            <p:cNvSpPr/>
            <p:nvPr/>
          </p:nvSpPr>
          <p:spPr>
            <a:xfrm>
              <a:off x="2507078" y="25627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4" name="Stroomdiagram: Gegevens 13">
              <a:extLst>
                <a:ext uri="{FF2B5EF4-FFF2-40B4-BE49-F238E27FC236}">
                  <a16:creationId xmlns:a16="http://schemas.microsoft.com/office/drawing/2014/main" id="{F343961F-F216-0CDD-98CD-34C6CB56BCCD}"/>
                </a:ext>
              </a:extLst>
            </p:cNvPr>
            <p:cNvSpPr/>
            <p:nvPr/>
          </p:nvSpPr>
          <p:spPr>
            <a:xfrm>
              <a:off x="3644063" y="21055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5" name="Stroomdiagram: Gegevens 14">
              <a:extLst>
                <a:ext uri="{FF2B5EF4-FFF2-40B4-BE49-F238E27FC236}">
                  <a16:creationId xmlns:a16="http://schemas.microsoft.com/office/drawing/2014/main" id="{2F479A56-1645-9092-7DBE-AA2A5ACCAADC}"/>
                </a:ext>
              </a:extLst>
            </p:cNvPr>
            <p:cNvSpPr/>
            <p:nvPr/>
          </p:nvSpPr>
          <p:spPr>
            <a:xfrm>
              <a:off x="4744448" y="1546057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</p:grpSp>
      <p:grpSp>
        <p:nvGrpSpPr>
          <p:cNvPr id="9" name="Groep 8">
            <a:extLst>
              <a:ext uri="{FF2B5EF4-FFF2-40B4-BE49-F238E27FC236}">
                <a16:creationId xmlns:a16="http://schemas.microsoft.com/office/drawing/2014/main" id="{872E22B7-D7CA-FC39-7CE1-99E0F05EA0BD}"/>
              </a:ext>
            </a:extLst>
          </p:cNvPr>
          <p:cNvGrpSpPr/>
          <p:nvPr/>
        </p:nvGrpSpPr>
        <p:grpSpPr>
          <a:xfrm>
            <a:off x="-165675" y="3429000"/>
            <a:ext cx="5291886" cy="4708359"/>
            <a:chOff x="589547" y="1247273"/>
            <a:chExt cx="5291886" cy="4708359"/>
          </a:xfrm>
          <a:blipFill>
            <a:blip r:embed="rId2"/>
            <a:stretch>
              <a:fillRect/>
            </a:stretch>
          </a:blipFill>
        </p:grpSpPr>
        <p:sp>
          <p:nvSpPr>
            <p:cNvPr id="4" name="Stroomdiagram: Gegevens 3">
              <a:extLst>
                <a:ext uri="{FF2B5EF4-FFF2-40B4-BE49-F238E27FC236}">
                  <a16:creationId xmlns:a16="http://schemas.microsoft.com/office/drawing/2014/main" id="{58D57057-E8BE-E3A9-A419-D117FAF77825}"/>
                </a:ext>
              </a:extLst>
            </p:cNvPr>
            <p:cNvSpPr/>
            <p:nvPr/>
          </p:nvSpPr>
          <p:spPr>
            <a:xfrm>
              <a:off x="589547" y="21055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5" name="Stroomdiagram: Gegevens 4">
              <a:extLst>
                <a:ext uri="{FF2B5EF4-FFF2-40B4-BE49-F238E27FC236}">
                  <a16:creationId xmlns:a16="http://schemas.microsoft.com/office/drawing/2014/main" id="{47720743-446A-0D43-05C3-6FEC0477DA31}"/>
                </a:ext>
              </a:extLst>
            </p:cNvPr>
            <p:cNvSpPr/>
            <p:nvPr/>
          </p:nvSpPr>
          <p:spPr>
            <a:xfrm>
              <a:off x="1612732" y="1247273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6" name="Stroomdiagram: Gegevens 5">
              <a:extLst>
                <a:ext uri="{FF2B5EF4-FFF2-40B4-BE49-F238E27FC236}">
                  <a16:creationId xmlns:a16="http://schemas.microsoft.com/office/drawing/2014/main" id="{E589EF92-876C-286A-A39E-AA36930C9C3B}"/>
                </a:ext>
              </a:extLst>
            </p:cNvPr>
            <p:cNvSpPr/>
            <p:nvPr/>
          </p:nvSpPr>
          <p:spPr>
            <a:xfrm>
              <a:off x="2507078" y="25627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7" name="Stroomdiagram: Gegevens 6">
              <a:extLst>
                <a:ext uri="{FF2B5EF4-FFF2-40B4-BE49-F238E27FC236}">
                  <a16:creationId xmlns:a16="http://schemas.microsoft.com/office/drawing/2014/main" id="{94F98C8A-3FF8-24A3-CBD6-A23F1EDB70F1}"/>
                </a:ext>
              </a:extLst>
            </p:cNvPr>
            <p:cNvSpPr/>
            <p:nvPr/>
          </p:nvSpPr>
          <p:spPr>
            <a:xfrm>
              <a:off x="3644063" y="21055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8" name="Stroomdiagram: Gegevens 7">
              <a:extLst>
                <a:ext uri="{FF2B5EF4-FFF2-40B4-BE49-F238E27FC236}">
                  <a16:creationId xmlns:a16="http://schemas.microsoft.com/office/drawing/2014/main" id="{A043968C-E933-F645-DDA0-833EF69AF4C1}"/>
                </a:ext>
              </a:extLst>
            </p:cNvPr>
            <p:cNvSpPr/>
            <p:nvPr/>
          </p:nvSpPr>
          <p:spPr>
            <a:xfrm>
              <a:off x="4744448" y="1546057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CB5858F8-A942-9F3C-C858-D201F229F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gency FB" panose="020B0503020202020204" pitchFamily="34" charset="0"/>
              </a:rPr>
              <a:t>How to minimize the risk of cyberattacks?</a:t>
            </a:r>
            <a:endParaRPr lang="nl-BE" dirty="0">
              <a:latin typeface="Agency FB" panose="020B0503020202020204" pitchFamily="34" charset="0"/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C4C8BFD-850E-5904-19AE-5852AC3F4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/>
            <a:r>
              <a:rPr lang="en-US" dirty="0"/>
              <a:t>Up to date software</a:t>
            </a:r>
          </a:p>
          <a:p>
            <a:pPr algn="r"/>
            <a:r>
              <a:rPr lang="en-US" dirty="0"/>
              <a:t>Up to date antivirus software</a:t>
            </a:r>
          </a:p>
          <a:p>
            <a:pPr algn="r"/>
            <a:r>
              <a:rPr lang="en-US" dirty="0"/>
              <a:t>Strong passwords</a:t>
            </a:r>
          </a:p>
        </p:txBody>
      </p:sp>
      <p:pic>
        <p:nvPicPr>
          <p:cNvPr id="17" name="Afbeelding 16">
            <a:extLst>
              <a:ext uri="{FF2B5EF4-FFF2-40B4-BE49-F238E27FC236}">
                <a16:creationId xmlns:a16="http://schemas.microsoft.com/office/drawing/2014/main" id="{615C2AD2-35CB-0B8E-91C8-6FFD53E51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8812" y="4608431"/>
            <a:ext cx="5205678" cy="203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26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ep 9">
            <a:extLst>
              <a:ext uri="{FF2B5EF4-FFF2-40B4-BE49-F238E27FC236}">
                <a16:creationId xmlns:a16="http://schemas.microsoft.com/office/drawing/2014/main" id="{5CB077F3-C52B-B07E-0EFE-33EF4EC6450B}"/>
              </a:ext>
            </a:extLst>
          </p:cNvPr>
          <p:cNvGrpSpPr/>
          <p:nvPr/>
        </p:nvGrpSpPr>
        <p:grpSpPr>
          <a:xfrm>
            <a:off x="6900114" y="3115788"/>
            <a:ext cx="5291886" cy="4708359"/>
            <a:chOff x="589547" y="1247273"/>
            <a:chExt cx="5291886" cy="4708359"/>
          </a:xfrm>
          <a:blipFill>
            <a:blip r:embed="rId2"/>
            <a:stretch>
              <a:fillRect/>
            </a:stretch>
          </a:blipFill>
        </p:grpSpPr>
        <p:sp>
          <p:nvSpPr>
            <p:cNvPr id="11" name="Stroomdiagram: Gegevens 10">
              <a:extLst>
                <a:ext uri="{FF2B5EF4-FFF2-40B4-BE49-F238E27FC236}">
                  <a16:creationId xmlns:a16="http://schemas.microsoft.com/office/drawing/2014/main" id="{ADE3F018-BAC6-8582-D033-82D567A14460}"/>
                </a:ext>
              </a:extLst>
            </p:cNvPr>
            <p:cNvSpPr/>
            <p:nvPr/>
          </p:nvSpPr>
          <p:spPr>
            <a:xfrm>
              <a:off x="589547" y="21055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2" name="Stroomdiagram: Gegevens 11">
              <a:extLst>
                <a:ext uri="{FF2B5EF4-FFF2-40B4-BE49-F238E27FC236}">
                  <a16:creationId xmlns:a16="http://schemas.microsoft.com/office/drawing/2014/main" id="{266DD9AD-E813-72DF-6EB5-E4611D892205}"/>
                </a:ext>
              </a:extLst>
            </p:cNvPr>
            <p:cNvSpPr/>
            <p:nvPr/>
          </p:nvSpPr>
          <p:spPr>
            <a:xfrm>
              <a:off x="1612732" y="1247273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3" name="Stroomdiagram: Gegevens 12">
              <a:extLst>
                <a:ext uri="{FF2B5EF4-FFF2-40B4-BE49-F238E27FC236}">
                  <a16:creationId xmlns:a16="http://schemas.microsoft.com/office/drawing/2014/main" id="{5D8C9CD5-0D40-6C1E-4E89-9BF8491A3193}"/>
                </a:ext>
              </a:extLst>
            </p:cNvPr>
            <p:cNvSpPr/>
            <p:nvPr/>
          </p:nvSpPr>
          <p:spPr>
            <a:xfrm>
              <a:off x="2507078" y="25627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4" name="Stroomdiagram: Gegevens 13">
              <a:extLst>
                <a:ext uri="{FF2B5EF4-FFF2-40B4-BE49-F238E27FC236}">
                  <a16:creationId xmlns:a16="http://schemas.microsoft.com/office/drawing/2014/main" id="{F343961F-F216-0CDD-98CD-34C6CB56BCCD}"/>
                </a:ext>
              </a:extLst>
            </p:cNvPr>
            <p:cNvSpPr/>
            <p:nvPr/>
          </p:nvSpPr>
          <p:spPr>
            <a:xfrm>
              <a:off x="3644063" y="21055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5" name="Stroomdiagram: Gegevens 14">
              <a:extLst>
                <a:ext uri="{FF2B5EF4-FFF2-40B4-BE49-F238E27FC236}">
                  <a16:creationId xmlns:a16="http://schemas.microsoft.com/office/drawing/2014/main" id="{2F479A56-1645-9092-7DBE-AA2A5ACCAADC}"/>
                </a:ext>
              </a:extLst>
            </p:cNvPr>
            <p:cNvSpPr/>
            <p:nvPr/>
          </p:nvSpPr>
          <p:spPr>
            <a:xfrm>
              <a:off x="4744448" y="1546057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</p:grpSp>
      <p:grpSp>
        <p:nvGrpSpPr>
          <p:cNvPr id="9" name="Groep 8">
            <a:extLst>
              <a:ext uri="{FF2B5EF4-FFF2-40B4-BE49-F238E27FC236}">
                <a16:creationId xmlns:a16="http://schemas.microsoft.com/office/drawing/2014/main" id="{872E22B7-D7CA-FC39-7CE1-99E0F05EA0BD}"/>
              </a:ext>
            </a:extLst>
          </p:cNvPr>
          <p:cNvGrpSpPr/>
          <p:nvPr/>
        </p:nvGrpSpPr>
        <p:grpSpPr>
          <a:xfrm>
            <a:off x="0" y="-1592571"/>
            <a:ext cx="5291886" cy="4708359"/>
            <a:chOff x="589547" y="1247273"/>
            <a:chExt cx="5291886" cy="4708359"/>
          </a:xfrm>
          <a:solidFill>
            <a:schemeClr val="bg1">
              <a:alpha val="15000"/>
            </a:schemeClr>
          </a:solidFill>
        </p:grpSpPr>
        <p:sp>
          <p:nvSpPr>
            <p:cNvPr id="4" name="Stroomdiagram: Gegevens 3">
              <a:extLst>
                <a:ext uri="{FF2B5EF4-FFF2-40B4-BE49-F238E27FC236}">
                  <a16:creationId xmlns:a16="http://schemas.microsoft.com/office/drawing/2014/main" id="{58D57057-E8BE-E3A9-A419-D117FAF77825}"/>
                </a:ext>
              </a:extLst>
            </p:cNvPr>
            <p:cNvSpPr/>
            <p:nvPr/>
          </p:nvSpPr>
          <p:spPr>
            <a:xfrm>
              <a:off x="589547" y="21055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5" name="Stroomdiagram: Gegevens 4">
              <a:extLst>
                <a:ext uri="{FF2B5EF4-FFF2-40B4-BE49-F238E27FC236}">
                  <a16:creationId xmlns:a16="http://schemas.microsoft.com/office/drawing/2014/main" id="{47720743-446A-0D43-05C3-6FEC0477DA31}"/>
                </a:ext>
              </a:extLst>
            </p:cNvPr>
            <p:cNvSpPr/>
            <p:nvPr/>
          </p:nvSpPr>
          <p:spPr>
            <a:xfrm>
              <a:off x="1612732" y="1247273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6" name="Stroomdiagram: Gegevens 5">
              <a:extLst>
                <a:ext uri="{FF2B5EF4-FFF2-40B4-BE49-F238E27FC236}">
                  <a16:creationId xmlns:a16="http://schemas.microsoft.com/office/drawing/2014/main" id="{E589EF92-876C-286A-A39E-AA36930C9C3B}"/>
                </a:ext>
              </a:extLst>
            </p:cNvPr>
            <p:cNvSpPr/>
            <p:nvPr/>
          </p:nvSpPr>
          <p:spPr>
            <a:xfrm>
              <a:off x="2507078" y="25627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7" name="Stroomdiagram: Gegevens 6">
              <a:extLst>
                <a:ext uri="{FF2B5EF4-FFF2-40B4-BE49-F238E27FC236}">
                  <a16:creationId xmlns:a16="http://schemas.microsoft.com/office/drawing/2014/main" id="{94F98C8A-3FF8-24A3-CBD6-A23F1EDB70F1}"/>
                </a:ext>
              </a:extLst>
            </p:cNvPr>
            <p:cNvSpPr/>
            <p:nvPr/>
          </p:nvSpPr>
          <p:spPr>
            <a:xfrm>
              <a:off x="3644063" y="21055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8" name="Stroomdiagram: Gegevens 7">
              <a:extLst>
                <a:ext uri="{FF2B5EF4-FFF2-40B4-BE49-F238E27FC236}">
                  <a16:creationId xmlns:a16="http://schemas.microsoft.com/office/drawing/2014/main" id="{A043968C-E933-F645-DDA0-833EF69AF4C1}"/>
                </a:ext>
              </a:extLst>
            </p:cNvPr>
            <p:cNvSpPr/>
            <p:nvPr/>
          </p:nvSpPr>
          <p:spPr>
            <a:xfrm>
              <a:off x="4744448" y="1546057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CB5858F8-A942-9F3C-C858-D201F229F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BE" dirty="0">
                <a:latin typeface="Agency FB" panose="020B0503020202020204" pitchFamily="34" charset="0"/>
              </a:rPr>
              <a:t>Summary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C4C8BFD-850E-5904-19AE-5852AC3F4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Cybersecurity 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Protection of data</a:t>
            </a:r>
          </a:p>
          <a:p>
            <a:r>
              <a:rPr lang="en-US" dirty="0"/>
              <a:t>Minimize risk of attacks</a:t>
            </a:r>
          </a:p>
          <a:p>
            <a:pPr lvl="1"/>
            <a:r>
              <a:rPr lang="en-US" dirty="0"/>
              <a:t>Up to date software</a:t>
            </a:r>
          </a:p>
          <a:p>
            <a:pPr lvl="1"/>
            <a:r>
              <a:rPr lang="en-US" dirty="0"/>
              <a:t>Up to date antivirus software</a:t>
            </a:r>
          </a:p>
          <a:p>
            <a:pPr lvl="1"/>
            <a:r>
              <a:rPr lang="en-US" dirty="0"/>
              <a:t>Strong passwords</a:t>
            </a:r>
          </a:p>
        </p:txBody>
      </p:sp>
    </p:spTree>
    <p:extLst>
      <p:ext uri="{BB962C8B-B14F-4D97-AF65-F5344CB8AC3E}">
        <p14:creationId xmlns:p14="http://schemas.microsoft.com/office/powerpoint/2010/main" val="347611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01"/>
                            </p:stCondLst>
                            <p:childTnLst>
                              <p:par>
                                <p:cTn id="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ep 9">
            <a:extLst>
              <a:ext uri="{FF2B5EF4-FFF2-40B4-BE49-F238E27FC236}">
                <a16:creationId xmlns:a16="http://schemas.microsoft.com/office/drawing/2014/main" id="{5CB077F3-C52B-B07E-0EFE-33EF4EC6450B}"/>
              </a:ext>
            </a:extLst>
          </p:cNvPr>
          <p:cNvGrpSpPr/>
          <p:nvPr/>
        </p:nvGrpSpPr>
        <p:grpSpPr>
          <a:xfrm>
            <a:off x="7017663" y="-1882539"/>
            <a:ext cx="5291886" cy="4708359"/>
            <a:chOff x="589547" y="1247273"/>
            <a:chExt cx="5291886" cy="4708359"/>
          </a:xfrm>
          <a:solidFill>
            <a:schemeClr val="bg1">
              <a:alpha val="15000"/>
            </a:schemeClr>
          </a:solidFill>
        </p:grpSpPr>
        <p:sp>
          <p:nvSpPr>
            <p:cNvPr id="11" name="Stroomdiagram: Gegevens 10">
              <a:extLst>
                <a:ext uri="{FF2B5EF4-FFF2-40B4-BE49-F238E27FC236}">
                  <a16:creationId xmlns:a16="http://schemas.microsoft.com/office/drawing/2014/main" id="{ADE3F018-BAC6-8582-D033-82D567A14460}"/>
                </a:ext>
              </a:extLst>
            </p:cNvPr>
            <p:cNvSpPr/>
            <p:nvPr/>
          </p:nvSpPr>
          <p:spPr>
            <a:xfrm>
              <a:off x="589547" y="21055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2" name="Stroomdiagram: Gegevens 11">
              <a:extLst>
                <a:ext uri="{FF2B5EF4-FFF2-40B4-BE49-F238E27FC236}">
                  <a16:creationId xmlns:a16="http://schemas.microsoft.com/office/drawing/2014/main" id="{266DD9AD-E813-72DF-6EB5-E4611D892205}"/>
                </a:ext>
              </a:extLst>
            </p:cNvPr>
            <p:cNvSpPr/>
            <p:nvPr/>
          </p:nvSpPr>
          <p:spPr>
            <a:xfrm>
              <a:off x="1612732" y="1247273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3" name="Stroomdiagram: Gegevens 12">
              <a:extLst>
                <a:ext uri="{FF2B5EF4-FFF2-40B4-BE49-F238E27FC236}">
                  <a16:creationId xmlns:a16="http://schemas.microsoft.com/office/drawing/2014/main" id="{5D8C9CD5-0D40-6C1E-4E89-9BF8491A3193}"/>
                </a:ext>
              </a:extLst>
            </p:cNvPr>
            <p:cNvSpPr/>
            <p:nvPr/>
          </p:nvSpPr>
          <p:spPr>
            <a:xfrm>
              <a:off x="2507078" y="25627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4" name="Stroomdiagram: Gegevens 13">
              <a:extLst>
                <a:ext uri="{FF2B5EF4-FFF2-40B4-BE49-F238E27FC236}">
                  <a16:creationId xmlns:a16="http://schemas.microsoft.com/office/drawing/2014/main" id="{F343961F-F216-0CDD-98CD-34C6CB56BCCD}"/>
                </a:ext>
              </a:extLst>
            </p:cNvPr>
            <p:cNvSpPr/>
            <p:nvPr/>
          </p:nvSpPr>
          <p:spPr>
            <a:xfrm>
              <a:off x="3644063" y="21055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5" name="Stroomdiagram: Gegevens 14">
              <a:extLst>
                <a:ext uri="{FF2B5EF4-FFF2-40B4-BE49-F238E27FC236}">
                  <a16:creationId xmlns:a16="http://schemas.microsoft.com/office/drawing/2014/main" id="{2F479A56-1645-9092-7DBE-AA2A5ACCAADC}"/>
                </a:ext>
              </a:extLst>
            </p:cNvPr>
            <p:cNvSpPr/>
            <p:nvPr/>
          </p:nvSpPr>
          <p:spPr>
            <a:xfrm>
              <a:off x="4744448" y="1546057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CB5858F8-A942-9F3C-C858-D201F229F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gency FB" panose="020B0503020202020204" pitchFamily="34" charset="0"/>
              </a:rPr>
              <a:t>Q&amp;A</a:t>
            </a:r>
            <a:endParaRPr lang="nl-BE" dirty="0">
              <a:latin typeface="Agency FB" panose="020B0503020202020204" pitchFamily="34" charset="0"/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C4C8BFD-850E-5904-19AE-5852AC3F4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Now I will answer some questions</a:t>
            </a:r>
          </a:p>
        </p:txBody>
      </p:sp>
    </p:spTree>
    <p:extLst>
      <p:ext uri="{BB962C8B-B14F-4D97-AF65-F5344CB8AC3E}">
        <p14:creationId xmlns:p14="http://schemas.microsoft.com/office/powerpoint/2010/main" val="1329747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1"/>
                            </p:stCondLst>
                            <p:childTnLst>
                              <p:par>
                                <p:cTn id="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ep 9">
            <a:extLst>
              <a:ext uri="{FF2B5EF4-FFF2-40B4-BE49-F238E27FC236}">
                <a16:creationId xmlns:a16="http://schemas.microsoft.com/office/drawing/2014/main" id="{5CB077F3-C52B-B07E-0EFE-33EF4EC6450B}"/>
              </a:ext>
            </a:extLst>
          </p:cNvPr>
          <p:cNvGrpSpPr/>
          <p:nvPr/>
        </p:nvGrpSpPr>
        <p:grpSpPr>
          <a:xfrm>
            <a:off x="7017663" y="-1882539"/>
            <a:ext cx="5291886" cy="4708359"/>
            <a:chOff x="589547" y="1247273"/>
            <a:chExt cx="5291886" cy="4708359"/>
          </a:xfrm>
          <a:solidFill>
            <a:schemeClr val="bg1">
              <a:alpha val="15000"/>
            </a:schemeClr>
          </a:solidFill>
        </p:grpSpPr>
        <p:sp>
          <p:nvSpPr>
            <p:cNvPr id="11" name="Stroomdiagram: Gegevens 10">
              <a:extLst>
                <a:ext uri="{FF2B5EF4-FFF2-40B4-BE49-F238E27FC236}">
                  <a16:creationId xmlns:a16="http://schemas.microsoft.com/office/drawing/2014/main" id="{ADE3F018-BAC6-8582-D033-82D567A14460}"/>
                </a:ext>
              </a:extLst>
            </p:cNvPr>
            <p:cNvSpPr/>
            <p:nvPr/>
          </p:nvSpPr>
          <p:spPr>
            <a:xfrm>
              <a:off x="589547" y="21055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2" name="Stroomdiagram: Gegevens 11">
              <a:extLst>
                <a:ext uri="{FF2B5EF4-FFF2-40B4-BE49-F238E27FC236}">
                  <a16:creationId xmlns:a16="http://schemas.microsoft.com/office/drawing/2014/main" id="{266DD9AD-E813-72DF-6EB5-E4611D892205}"/>
                </a:ext>
              </a:extLst>
            </p:cNvPr>
            <p:cNvSpPr/>
            <p:nvPr/>
          </p:nvSpPr>
          <p:spPr>
            <a:xfrm>
              <a:off x="1612732" y="1247273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3" name="Stroomdiagram: Gegevens 12">
              <a:extLst>
                <a:ext uri="{FF2B5EF4-FFF2-40B4-BE49-F238E27FC236}">
                  <a16:creationId xmlns:a16="http://schemas.microsoft.com/office/drawing/2014/main" id="{5D8C9CD5-0D40-6C1E-4E89-9BF8491A3193}"/>
                </a:ext>
              </a:extLst>
            </p:cNvPr>
            <p:cNvSpPr/>
            <p:nvPr/>
          </p:nvSpPr>
          <p:spPr>
            <a:xfrm>
              <a:off x="2507078" y="25627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4" name="Stroomdiagram: Gegevens 13">
              <a:extLst>
                <a:ext uri="{FF2B5EF4-FFF2-40B4-BE49-F238E27FC236}">
                  <a16:creationId xmlns:a16="http://schemas.microsoft.com/office/drawing/2014/main" id="{F343961F-F216-0CDD-98CD-34C6CB56BCCD}"/>
                </a:ext>
              </a:extLst>
            </p:cNvPr>
            <p:cNvSpPr/>
            <p:nvPr/>
          </p:nvSpPr>
          <p:spPr>
            <a:xfrm>
              <a:off x="3644063" y="21055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5" name="Stroomdiagram: Gegevens 14">
              <a:extLst>
                <a:ext uri="{FF2B5EF4-FFF2-40B4-BE49-F238E27FC236}">
                  <a16:creationId xmlns:a16="http://schemas.microsoft.com/office/drawing/2014/main" id="{2F479A56-1645-9092-7DBE-AA2A5ACCAADC}"/>
                </a:ext>
              </a:extLst>
            </p:cNvPr>
            <p:cNvSpPr/>
            <p:nvPr/>
          </p:nvSpPr>
          <p:spPr>
            <a:xfrm>
              <a:off x="4744448" y="1546057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CB5858F8-A942-9F3C-C858-D201F229F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>
                <a:latin typeface="Agency FB" panose="020B0503020202020204" pitchFamily="34" charset="0"/>
              </a:rPr>
              <a:t>The end </a:t>
            </a:r>
            <a:r>
              <a:rPr lang="en-US" dirty="0">
                <a:latin typeface="Agency FB" panose="020B0503020202020204" pitchFamily="34" charset="0"/>
              </a:rPr>
              <a:t>of my presentation</a:t>
            </a:r>
            <a:endParaRPr lang="nl-BE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9279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</TotalTime>
  <Words>98</Words>
  <Application>Microsoft Office PowerPoint</Application>
  <PresentationFormat>Breedbeeld</PresentationFormat>
  <Paragraphs>24</Paragraphs>
  <Slides>8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8</vt:i4>
      </vt:variant>
    </vt:vector>
  </HeadingPairs>
  <TitlesOfParts>
    <vt:vector size="13" baseType="lpstr">
      <vt:lpstr>Agency FB</vt:lpstr>
      <vt:lpstr>Arial</vt:lpstr>
      <vt:lpstr>Calibri</vt:lpstr>
      <vt:lpstr>Calibri Light</vt:lpstr>
      <vt:lpstr>Kantoorthema</vt:lpstr>
      <vt:lpstr>The need to improve cybersecurity</vt:lpstr>
      <vt:lpstr>PowerPoint-presentatie</vt:lpstr>
      <vt:lpstr>What is cybersecurity?</vt:lpstr>
      <vt:lpstr>Why do we need cybersecurity?</vt:lpstr>
      <vt:lpstr>How to minimize the risk of cyberattacks?</vt:lpstr>
      <vt:lpstr>Summary</vt:lpstr>
      <vt:lpstr>Q&amp;A</vt:lpstr>
      <vt:lpstr>The end of my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need to improve cybersecurity</dc:title>
  <dc:creator>Alexander Bal</dc:creator>
  <cp:lastModifiedBy>Alexander Bal</cp:lastModifiedBy>
  <cp:revision>8</cp:revision>
  <dcterms:created xsi:type="dcterms:W3CDTF">2023-01-21T15:31:43Z</dcterms:created>
  <dcterms:modified xsi:type="dcterms:W3CDTF">2023-01-25T12:54:26Z</dcterms:modified>
</cp:coreProperties>
</file>